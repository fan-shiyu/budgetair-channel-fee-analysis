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502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budgetair-fee-analysis.streamlit.app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Fan-shiyu/budgetair-channel-fee-analysis" TargetMode="External"/><Relationship Id="rId4" Type="http://schemas.openxmlformats.org/officeDocument/2006/relationships/hyperlink" Target="https://budgetair-mcp-114618126327.europe-west4.run.app/mcp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7F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ANALYST BUSINESS CASE  ·  BUDGETAIR.US  ·  2022 ORDERS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1874520"/>
            <a:ext cx="1105783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Aeroprice fee change: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really cost us — and what to do next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66928" y="37947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9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 of the October 2022 Aeroprice channel-fee change  ·  120,396 orders  ·  every number reproducible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489204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1E4A73"/>
          </a:solidFill>
          <a:ln w="9525">
            <a:solidFill>
              <a:srgbClr val="3D6E9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>
            <a:hlinkClick r:id="rId3"/>
          </p:cNvPr>
          <p:cNvSpPr/>
          <p:nvPr/>
        </p:nvSpPr>
        <p:spPr>
          <a:xfrm>
            <a:off x="566928" y="48920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u="sng" dirty="0">
                <a:solidFill>
                  <a:srgbClr val="DCE9F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dashboard  ·  streamlit.app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584448" y="489204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1E4A73"/>
          </a:solidFill>
          <a:ln w="9525">
            <a:solidFill>
              <a:srgbClr val="3D6E9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>
            <a:hlinkClick r:id="rId4"/>
          </p:cNvPr>
          <p:cNvSpPr/>
          <p:nvPr/>
        </p:nvSpPr>
        <p:spPr>
          <a:xfrm>
            <a:off x="3584448" y="48920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u="sng" dirty="0">
                <a:solidFill>
                  <a:srgbClr val="DCE9F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Ask the data  ·  Claude MCP server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601968" y="489204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1E4A73"/>
          </a:solidFill>
          <a:ln w="9525">
            <a:solidFill>
              <a:srgbClr val="3D6E9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>
            <a:hlinkClick r:id="rId5"/>
          </p:cNvPr>
          <p:cNvSpPr/>
          <p:nvPr/>
        </p:nvSpPr>
        <p:spPr>
          <a:xfrm>
            <a:off x="6601968" y="48920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u="sng" dirty="0">
                <a:solidFill>
                  <a:srgbClr val="DCE9F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Code &amp; data  ·  GitHub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altLang="zh-CN" sz="1200" dirty="0">
                <a:solidFill>
                  <a:srgbClr val="7F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elicity</a:t>
            </a:r>
            <a:r>
              <a:rPr lang="en-US" sz="1200" dirty="0">
                <a:solidFill>
                  <a:srgbClr val="7F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Fan  ·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2881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  ·   budgetair-fee-analysis.streamlit.app</a:t>
            </a:r>
            <a:r>
              <a:rPr lang="en-US" sz="900" b="1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'cheaper' new contract would have cost us $131,696 on 2022's orders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2558720" cy="1170432"/>
          </a:xfrm>
          <a:prstGeom prst="roundRect">
            <a:avLst>
              <a:gd name="adj" fmla="val 429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blurRad="76200" dist="12700" dir="5400000" algn="bl" rotWithShape="0">
              <a:srgbClr val="8FA3B5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713232" y="1261872"/>
            <a:ext cx="2266112" cy="60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+$131,696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13232" y="1814170"/>
            <a:ext cx="2266112" cy="491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cost, full year — same orders priced under both fee schemes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99968" y="1170432"/>
            <a:ext cx="2558720" cy="1170432"/>
          </a:xfrm>
          <a:prstGeom prst="roundRect">
            <a:avLst>
              <a:gd name="adj" fmla="val 429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blurRad="76200" dist="12700" dir="5400000" algn="bl" rotWithShape="0">
              <a:srgbClr val="8FA3B5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3546272" y="1261872"/>
            <a:ext cx="2266112" cy="60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58.5%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546272" y="1814170"/>
            <a:ext cx="2266112" cy="491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Aeroprice orders pay more under the new terms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33008" y="1170432"/>
            <a:ext cx="2558720" cy="1170432"/>
          </a:xfrm>
          <a:prstGeom prst="roundRect">
            <a:avLst>
              <a:gd name="adj" fmla="val 429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blurRad="76200" dist="12700" dir="5400000" algn="bl" rotWithShape="0">
              <a:srgbClr val="8FA3B5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6379312" y="1261872"/>
            <a:ext cx="2266112" cy="60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−58.5% vs −5.1%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379312" y="1814170"/>
            <a:ext cx="2266112" cy="491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cheap-fare volume after the change: Aeroprice vs a channel with no fee change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66047" y="1170432"/>
            <a:ext cx="2558720" cy="1170432"/>
          </a:xfrm>
          <a:prstGeom prst="roundRect">
            <a:avLst>
              <a:gd name="adj" fmla="val 429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blurRad="76200" dist="12700" dir="5400000" algn="bl" rotWithShape="0">
              <a:srgbClr val="8FA3B5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9212351" y="1261872"/>
            <a:ext cx="2266112" cy="60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$10.50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212351" y="1814170"/>
            <a:ext cx="2266112" cy="491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fee avoided per budget order won back on our own Direct site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in four sentences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66928" y="3063240"/>
            <a:ext cx="310896" cy="310896"/>
          </a:xfrm>
          <a:prstGeom prst="ellipse">
            <a:avLst/>
          </a:prstGeom>
          <a:solidFill>
            <a:srgbClr val="1B6CB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566928" y="3063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42416" y="3035808"/>
            <a:ext cx="10582351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contract looks cheaper — lower percentage, lower cap — but its brand-new $10.50 minimum fee lands on 58.5% of the channel's orders: cheap tickets that were already barely profitable.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3931920"/>
            <a:ext cx="310896" cy="310896"/>
          </a:xfrm>
          <a:prstGeom prst="ellipse">
            <a:avLst/>
          </a:prstGeom>
          <a:solidFill>
            <a:srgbClr val="1B6CB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1" name="Text 19"/>
          <p:cNvSpPr/>
          <p:nvPr/>
        </p:nvSpPr>
        <p:spPr>
          <a:xfrm>
            <a:off x="566928" y="3931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42416" y="3904488"/>
            <a:ext cx="10582351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sales mix we actually had, it costs +$131,696 a year. On the post-change mix it looks roughly neutral (−$1,768) — only because the punished cheap-fare segment had already left.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66928" y="4800600"/>
            <a:ext cx="310896" cy="310896"/>
          </a:xfrm>
          <a:prstGeom prst="ellipse">
            <a:avLst/>
          </a:prstGeom>
          <a:solidFill>
            <a:srgbClr val="1B6CB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4" name="Text 22"/>
          <p:cNvSpPr/>
          <p:nvPr/>
        </p:nvSpPr>
        <p:spPr>
          <a:xfrm>
            <a:off x="566928" y="4800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42416" y="4773168"/>
            <a:ext cx="10582351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fares collapsed in Aeroprice (−58.5%) while a comparable channel with no fee change barely moved (−5.1%). Most of that demand was not recaptured by our other channels — it likely went to competitors.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6928" y="5669280"/>
            <a:ext cx="310896" cy="310896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7" name="Text 25"/>
          <p:cNvSpPr/>
          <p:nvPr/>
        </p:nvSpPr>
        <p:spPr>
          <a:xfrm>
            <a:off x="566928" y="5669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42416" y="5641848"/>
            <a:ext cx="10582351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response: segment the channel — stop competing on sub-$262 fares in Aeroprice, reinvest the savings on expensive fares, reclaim budget fares via Direct, and renegotiate tiered terms (details: slide 12).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2881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Data &amp; method   ·   budgetair-fee-analysis.streamlit.app</a:t>
            </a:r>
            <a:r>
              <a:rPr lang="en-US" sz="900" b="1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12 monthly files to one auditable dataset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compiling process behind the two deliverable CSV files — every step scripted, flagged, and reproducible.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42062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5240">
            <a:solidFill>
              <a:srgbClr val="DDE4E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731520" y="157276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monthly CSVs</a:t>
            </a:r>
            <a:r>
              <a:rPr lang="en-US" sz="10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120,396 orders, Jan–Dec 2022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569464" y="2286000"/>
            <a:ext cx="201168" cy="237744"/>
          </a:xfrm>
          <a:prstGeom prst="downArrow">
            <a:avLst/>
          </a:prstGeom>
          <a:solidFill>
            <a:srgbClr val="B9C6D1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8" name="Shape 6"/>
          <p:cNvSpPr/>
          <p:nvPr/>
        </p:nvSpPr>
        <p:spPr>
          <a:xfrm>
            <a:off x="566928" y="2523744"/>
            <a:ext cx="42062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5240">
            <a:solidFill>
              <a:srgbClr val="DDE4E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731520" y="2523744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flag</a:t>
            </a:r>
            <a:r>
              <a:rPr lang="en-US" sz="10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362 zero-ticket orders flagged, not deleted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569464" y="3236976"/>
            <a:ext cx="201168" cy="237744"/>
          </a:xfrm>
          <a:prstGeom prst="downArrow">
            <a:avLst/>
          </a:prstGeom>
          <a:solidFill>
            <a:srgbClr val="B9C6D1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1" name="Shape 9"/>
          <p:cNvSpPr/>
          <p:nvPr/>
        </p:nvSpPr>
        <p:spPr>
          <a:xfrm>
            <a:off x="566928" y="3474720"/>
            <a:ext cx="4206240" cy="713232"/>
          </a:xfrm>
          <a:prstGeom prst="roundRect">
            <a:avLst>
              <a:gd name="adj" fmla="val 6410"/>
            </a:avLst>
          </a:prstGeom>
          <a:solidFill>
            <a:srgbClr val="E8F0F8"/>
          </a:solidFill>
          <a:ln w="15240">
            <a:solidFill>
              <a:srgbClr val="1B6CB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731520" y="347472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engine</a:t>
            </a:r>
            <a:r>
              <a:rPr lang="en-US" sz="10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old &amp; new scheme applied to every order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569464" y="4187952"/>
            <a:ext cx="201168" cy="237744"/>
          </a:xfrm>
          <a:prstGeom prst="downArrow">
            <a:avLst/>
          </a:prstGeom>
          <a:solidFill>
            <a:srgbClr val="B9C6D1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4" name="Shape 12"/>
          <p:cNvSpPr/>
          <p:nvPr/>
        </p:nvSpPr>
        <p:spPr>
          <a:xfrm>
            <a:off x="566928" y="4425696"/>
            <a:ext cx="42062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5240">
            <a:solidFill>
              <a:srgbClr val="DDE4E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731520" y="4425696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deliverable CSVs</a:t>
            </a:r>
            <a:r>
              <a:rPr lang="en-US" sz="10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order-level fact table + impact summary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569464" y="5138928"/>
            <a:ext cx="201168" cy="237744"/>
          </a:xfrm>
          <a:prstGeom prst="downArrow">
            <a:avLst/>
          </a:prstGeom>
          <a:solidFill>
            <a:srgbClr val="B9C6D1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7" name="Shape 15"/>
          <p:cNvSpPr/>
          <p:nvPr/>
        </p:nvSpPr>
        <p:spPr>
          <a:xfrm>
            <a:off x="566928" y="5376672"/>
            <a:ext cx="42062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5240">
            <a:solidFill>
              <a:srgbClr val="DDE4E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731520" y="537667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 ·  MCP</a:t>
            </a:r>
            <a:r>
              <a:rPr lang="en-US" sz="10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both read the same outputs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13248" y="1572768"/>
            <a:ext cx="62115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data decisions, stated up front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13248" y="2011680"/>
            <a:ext cx="62115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Zero-value tickets.  </a:t>
            </a: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362 orders (0.3%) have a $0 ticket — a percentage fee is undefined on them. Flagged and excluded from fee maths, kept in the data for transparency.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13248" y="2980944"/>
            <a:ext cx="62115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 value.  </a:t>
            </a: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as base fare + tax — the base the percentage, floor and cap apply to.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13248" y="3950208"/>
            <a:ext cx="62115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Margin.  </a:t>
            </a: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Treated as net of all costs including the actual fee paid. So the impact is measured as a counterfactual, not by comparing accounting lines.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13248" y="5010912"/>
            <a:ext cx="6211519" cy="1051560"/>
          </a:xfrm>
          <a:prstGeom prst="roundRect">
            <a:avLst>
              <a:gd name="adj" fmla="val 4348"/>
            </a:avLst>
          </a:prstGeom>
          <a:solidFill>
            <a:srgbClr val="EAF3EC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Text 22"/>
          <p:cNvSpPr/>
          <p:nvPr/>
        </p:nvSpPr>
        <p:spPr>
          <a:xfrm>
            <a:off x="5577840" y="5120640"/>
            <a:ext cx="5882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by design.  </a:t>
            </a:r>
            <a:r>
              <a:rPr lang="en-US" sz="1150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script (analysis.py) rebuilds both CSVs and prints a validation block; the dashboard and the AI interface recompute every number from those files. Automated QA: 47/47 checks against the deployed app.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2881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Data &amp; method   ·   budgetair-fee-analysis.streamlit.app</a:t>
            </a:r>
            <a:r>
              <a:rPr lang="en-US" sz="900" b="1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same orders under both price schemes, plus a no-change control channel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30032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blurRad="76200" dist="12700" dir="5400000" algn="bl" rotWithShape="0">
              <a:srgbClr val="8FA3B5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795528" y="1536192"/>
            <a:ext cx="484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the cost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95528" y="1938528"/>
            <a:ext cx="484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both fee schemes to the same orders and compare. Because the orders are identical, the difference is purely the contract — seasonality, demand and mix are all held constant.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" y="2852928"/>
          <a:ext cx="4843120" cy="987552"/>
        </p:xfrm>
        <a:graphic>
          <a:graphicData uri="http://schemas.openxmlformats.org/drawingml/2006/table">
            <a:tbl>
              <a:tblPr/>
              <a:tblGrid>
                <a:gridCol w="1210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0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0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0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 (before 1 Oct)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(from 1 Oct)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324448" y="1371600"/>
            <a:ext cx="530032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blurRad="76200" dist="12700" dir="5400000" algn="bl" rotWithShape="0">
              <a:srgbClr val="8FA3B5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9" name="Text 6"/>
          <p:cNvSpPr/>
          <p:nvPr/>
        </p:nvSpPr>
        <p:spPr>
          <a:xfrm>
            <a:off x="6553048" y="1536192"/>
            <a:ext cx="484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the behaviour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553048" y="1938528"/>
            <a:ext cx="484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shift with seasons, so a before/after comparison alone would mislead. We compare Aeroprice against Google Flights — a comparable channel whose fee did not change.
</a:t>
            </a:r>
            <a:r>
              <a:rPr lang="en-US" sz="1200" b="1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drop in Aeroprice beyond the control channel's is attributable to the fee change, not the season.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6928" y="42793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Assumptions, stated and locked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66928" y="4626864"/>
            <a:ext cx="110578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 </a:t>
            </a:r>
            <a:r>
              <a:rPr lang="en-US" sz="11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 value = base fare + tax.      </a:t>
            </a:r>
            <a:r>
              <a:rPr lang="en-US" sz="1150" b="1" dirty="0">
                <a:solidFill>
                  <a:srgbClr val="1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 </a:t>
            </a:r>
            <a:r>
              <a:rPr lang="en-US" sz="11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applied per order — per-passenger shown as a sensitivity (appendix: it would be worse, +$231k).
</a:t>
            </a:r>
            <a:r>
              <a:rPr lang="en-US" sz="1150" b="1" dirty="0">
                <a:solidFill>
                  <a:srgbClr val="1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 </a:t>
            </a:r>
            <a:r>
              <a:rPr lang="en-US" sz="11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formulas exactly as in the contract table above.      </a:t>
            </a:r>
            <a:r>
              <a:rPr lang="en-US" sz="1150" b="1" dirty="0">
                <a:solidFill>
                  <a:srgbClr val="1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 </a:t>
            </a:r>
            <a:r>
              <a:rPr lang="en-US" sz="11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is net of all costs, incl. the fee actually paid.
</a:t>
            </a:r>
            <a:r>
              <a:rPr lang="en-US" sz="1150" b="1" dirty="0">
                <a:solidFill>
                  <a:srgbClr val="1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  </a:t>
            </a:r>
            <a:r>
              <a:rPr lang="en-US" sz="11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terms are known only for Aeroprice — no fee is estimated for any other channel.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2881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mechanics   ·   budgetair-fee-analysis.streamlit.app</a:t>
            </a:r>
            <a:r>
              <a:rPr lang="en-US" sz="900" b="1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a $262 ticket the new terms charge more — and 58.5% of our orders live there</a:t>
            </a:r>
            <a:endParaRPr lang="en-US" sz="2700" dirty="0"/>
          </a:p>
        </p:txBody>
      </p:sp>
      <p:pic>
        <p:nvPicPr>
          <p:cNvPr id="4" name="Image 0" descr="/mnt/user-data/uploads/1_Fee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528" y="1325880"/>
            <a:ext cx="9692640" cy="41864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49528" y="57135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$262.50?  </a:t>
            </a: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exact break-even where the new $10.50 minimum equals the old 4% fee ($10.50 ÷ 4%). A $100 ticket used to pay $4.00; it now pays $10.50. The savings only start above $262 — where the lower rate and the $19 cap beat the old terms — but expensive tickets are the minority of the channel.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2881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Overall impact   ·   budgetair-fee-analysis.streamlit.app</a:t>
            </a:r>
            <a:r>
              <a:rPr lang="en-US" sz="900" b="1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year we actually sold, the new fee costs +$131,696 — a third of channel profit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70188"/>
            <a:ext cx="3200400" cy="1051560"/>
          </a:xfrm>
          <a:prstGeom prst="roundRect">
            <a:avLst>
              <a:gd name="adj" fmla="val 4783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blurRad="76200" dist="12700" dir="5400000" algn="bl" rotWithShape="0">
              <a:srgbClr val="8FA3B5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713232" y="1761628"/>
            <a:ext cx="2907792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+$131,696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13232" y="2248546"/>
            <a:ext cx="2907792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full-year extra cost (same orders, both schemes)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2904628"/>
            <a:ext cx="3200400" cy="1051560"/>
          </a:xfrm>
          <a:prstGeom prst="roundRect">
            <a:avLst>
              <a:gd name="adj" fmla="val 4783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blurRad="76200" dist="12700" dir="5400000" algn="bl" rotWithShape="0">
              <a:srgbClr val="8FA3B5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713232" y="2996068"/>
            <a:ext cx="2907792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−$1,768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13232" y="3482986"/>
            <a:ext cx="2907792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after-change mix only (Oct–Dec) — roughly neutral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4139068"/>
            <a:ext cx="3200400" cy="1051560"/>
          </a:xfrm>
          <a:prstGeom prst="roundRect">
            <a:avLst>
              <a:gd name="adj" fmla="val 4783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blurRad="76200" dist="12700" dir="5400000" algn="bl" rotWithShape="0">
              <a:srgbClr val="8FA3B5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713232" y="4230508"/>
            <a:ext cx="2907792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+31.8%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13232" y="4717426"/>
            <a:ext cx="2907792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full-year margin earned on the channel</a:t>
            </a:r>
            <a:endParaRPr lang="en-US" sz="1050" dirty="0"/>
          </a:p>
        </p:txBody>
      </p:sp>
      <p:pic>
        <p:nvPicPr>
          <p:cNvPr id="13" name="Image 0" descr="/mnt/user-data/uploads/2_Waterf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1417320"/>
            <a:ext cx="7400239" cy="305737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224528" y="4703296"/>
            <a:ext cx="74002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looks 'neutral' after October:  </a:t>
            </a: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cheap tickets the fee punishes had already left the channel by then. Judging the contract on Oct–Dec alone would understate its true cost.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2881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Overall impact   ·   budgetair-fee-analysis.streamlit.app</a:t>
            </a:r>
            <a:r>
              <a:rPr lang="en-US" sz="900" b="1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extra cost was building every month — until the punished fares left</a:t>
            </a:r>
            <a:endParaRPr lang="en-US" sz="2700" dirty="0"/>
          </a:p>
        </p:txBody>
      </p:sp>
      <p:pic>
        <p:nvPicPr>
          <p:cNvPr id="4" name="Image 0" descr="/mnt/user-data/uploads/4_Monthly_delta_b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648" y="1371600"/>
            <a:ext cx="10058400" cy="39666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66648" y="5566893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Jan–Sep: </a:t>
            </a: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full cheap-fare volume on board, the new scheme would have cost an extra $6k–$20k every single month (+$133k in total).  </a:t>
            </a: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Oct–Dec: </a:t>
            </a: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flat — not because the fee got kinder, but because the fares it punishes had fled. These are counterfactuals on identical orders: a clean apples-to-apples view for the renegotiation case.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2881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Winners &amp; losers   ·   budgetair-fee-analysis.streamlit.app</a:t>
            </a:r>
            <a:r>
              <a:rPr lang="en-US" sz="900" b="1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change punishes budget airlines and rewards long-haul ones</a:t>
            </a:r>
            <a:endParaRPr lang="en-US" sz="2600" dirty="0"/>
          </a:p>
        </p:txBody>
      </p:sp>
      <p:pic>
        <p:nvPicPr>
          <p:cNvPr id="4" name="Image 0" descr="/mnt/user-data/uploads/5_Horizontal_b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261872"/>
            <a:ext cx="6492240" cy="3169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70648" y="1325880"/>
            <a:ext cx="4154119" cy="1188720"/>
          </a:xfrm>
          <a:prstGeom prst="roundRect">
            <a:avLst>
              <a:gd name="adj" fmla="val 4231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blurRad="76200" dist="12700" dir="5400000" algn="bl" rotWithShape="0">
              <a:srgbClr val="8FA3B5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3"/>
          <p:cNvSpPr/>
          <p:nvPr/>
        </p:nvSpPr>
        <p:spPr>
          <a:xfrm>
            <a:off x="7616952" y="1417320"/>
            <a:ext cx="3861511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4.0%  →  17.5%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616952" y="1979676"/>
            <a:ext cx="3861511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fee on a sub-$100 ticket — a third of Aeroprice volume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470648" y="2651760"/>
            <a:ext cx="4154119" cy="1188720"/>
          </a:xfrm>
          <a:prstGeom prst="roundRect">
            <a:avLst>
              <a:gd name="adj" fmla="val 4231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blurRad="76200" dist="12700" dir="5400000" algn="bl" rotWithShape="0">
              <a:srgbClr val="8FA3B5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9" name="Text 6"/>
          <p:cNvSpPr/>
          <p:nvPr/>
        </p:nvSpPr>
        <p:spPr>
          <a:xfrm>
            <a:off x="7616952" y="2743200"/>
            <a:ext cx="3861511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+$6.41 / −$4.79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616952" y="3305556"/>
            <a:ext cx="3861511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fee change per order: cheap fares vs expensive fares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516368" y="3977640"/>
            <a:ext cx="406267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Losers: </a:t>
            </a:r>
            <a:r>
              <a:rPr lang="en-US" sz="11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one-way, domestic, low-cost and short-haul carriers.  </a:t>
            </a: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Winners: </a:t>
            </a:r>
            <a:r>
              <a:rPr lang="en-US" sz="11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long-haul international returns on legacy and Gulf carriers.</a:t>
            </a:r>
            <a:endParaRPr lang="en-US" sz="1100" dirty="0"/>
          </a:p>
        </p:txBody>
      </p:sp>
      <p:pic>
        <p:nvPicPr>
          <p:cNvPr id="12" name="Image 1" descr="/mnt/user-data/uploads/11_Three-zone_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3928" y="4828032"/>
            <a:ext cx="7863840" cy="16618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2881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  ·   budgetair-fee-analysis.streamlit.app</a:t>
            </a:r>
            <a:r>
              <a:rPr lang="en-US" sz="900" b="1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fares didn't move channels — they disappeared</a:t>
            </a:r>
            <a:endParaRPr lang="en-US" sz="2700" dirty="0"/>
          </a:p>
        </p:txBody>
      </p:sp>
      <p:pic>
        <p:nvPicPr>
          <p:cNvPr id="4" name="Image 0" descr="/mnt/user-data/uploads/7_Indexed_comparison_li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25880"/>
            <a:ext cx="7863840" cy="32489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464794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lines indexed to their July–September average (=100), so the drop is comparable, not the raw sizes.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8842248" y="1417320"/>
            <a:ext cx="2782519" cy="1143000"/>
          </a:xfrm>
          <a:prstGeom prst="roundRect">
            <a:avLst>
              <a:gd name="adj" fmla="val 4400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blurRad="76200" dist="12700" dir="5400000" algn="bl" rotWithShape="0">
              <a:srgbClr val="8FA3B5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7" name="Text 4"/>
          <p:cNvSpPr/>
          <p:nvPr/>
        </p:nvSpPr>
        <p:spPr>
          <a:xfrm>
            <a:off x="8988552" y="1508760"/>
            <a:ext cx="248991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−58.5%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988552" y="2045970"/>
            <a:ext cx="2489911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Aeroprice cheap-fare volume, summer avg → Q4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842248" y="2743200"/>
            <a:ext cx="2782519" cy="1143000"/>
          </a:xfrm>
          <a:prstGeom prst="roundRect">
            <a:avLst>
              <a:gd name="adj" fmla="val 4400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blurRad="76200" dist="12700" dir="5400000" algn="bl" rotWithShape="0">
              <a:srgbClr val="8FA3B5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0" name="Text 7"/>
          <p:cNvSpPr/>
          <p:nvPr/>
        </p:nvSpPr>
        <p:spPr>
          <a:xfrm>
            <a:off x="8988552" y="2834640"/>
            <a:ext cx="248991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−5.1%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988552" y="3371850"/>
            <a:ext cx="2489911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measure on a channel with no fee change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842248" y="4069080"/>
            <a:ext cx="2782519" cy="1143000"/>
          </a:xfrm>
          <a:prstGeom prst="roundRect">
            <a:avLst>
              <a:gd name="adj" fmla="val 4400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blurRad="76200" dist="12700" dir="5400000" algn="bl" rotWithShape="0">
              <a:srgbClr val="8FA3B5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3" name="Text 10"/>
          <p:cNvSpPr/>
          <p:nvPr/>
        </p:nvSpPr>
        <p:spPr>
          <a:xfrm>
            <a:off x="8988552" y="4160520"/>
            <a:ext cx="248991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2,200 / mo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988552" y="4697730"/>
            <a:ext cx="2489911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cheap-fare orders that vanished and were not recaptured anywhere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6928" y="50749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cheap-fare demand across all our channels fell from ~5,600 to ~3,100 orders a month — </a:t>
            </a:r>
            <a:r>
              <a:rPr lang="en-US" sz="1200" b="1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displaced demand likely went to competitors.</a:t>
            </a: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Aeroprice's share of all cheap fares fell from 72.6% to 51.1%. The typical Aeroprice ticket jumped from ~$130 to over $400 (appendix).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2881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Pricing strategy   ·   budgetair-fee-analysis.streamlit.app</a:t>
            </a:r>
            <a:r>
              <a:rPr lang="en-US" sz="900" b="1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pricing by segment — the fee floor is a channel-fit problem, not a markup problem</a:t>
            </a:r>
            <a:endParaRPr lang="en-US" sz="2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17320"/>
          <a:ext cx="11064240" cy="3895344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04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Cheap fares  &lt;$262.50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59% of orders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full-price competition: partial pass-through of the fee; de-prioritise deep-discount inventory in this channel.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Stops guaranteed losses — the $10.50 fee alone exceeds the segment's −$0.67 average margin.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and search-ranking loss (already visible in Q4); weaker 'billboard' visibility from cheap fares.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04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Expensive fares  &gt;$500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 of orders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Reinvest the ~$4.79/order saving into sharper prices to win ranking on long-haul fares.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Healthy-margin segment (+$23.18/order); price-sorted platforms reward small cuts disproportionately.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Competitors on the same new terms may match, competing the saving away.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04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contract itself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Renegotiate a fare-tiered fee; route budget inventory to channels without a minimum fee.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Fixes the root cause; the +$131,696 full-year counterfactual is the negotiation lever.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may resist; re-routing volume takes time and coordination.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080760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the fee changed asymmetrically, so the optimal markup changes asymmetrically — one uniform response would be wrong in both directions.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2881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· Direct channel   ·   budgetair-fee-analysis.streamlit.app</a:t>
            </a:r>
            <a:r>
              <a:rPr lang="en-US" sz="900" b="1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Direct site is now the cheapest place to sell a budget fare</a:t>
            </a:r>
            <a:endParaRPr lang="en-US" sz="2700" dirty="0"/>
          </a:p>
        </p:txBody>
      </p:sp>
      <p:pic>
        <p:nvPicPr>
          <p:cNvPr id="4" name="Image 0" descr="/mnt/user-data/uploads/9_Share_vs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71600"/>
            <a:ext cx="7040880" cy="29089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4445100"/>
            <a:ext cx="7040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pays no partner fee — so the effect is behavioural: by December, Direct's share of cheap fares reached 11.4%, +1.6 pp above its own pre-change trend. Real, but small and late: Direct is not yet catching the falling demand. It should be.</a:t>
            </a:r>
            <a:endParaRPr lang="en-US" sz="1200" dirty="0"/>
          </a:p>
        </p:txBody>
      </p:sp>
      <p:pic>
        <p:nvPicPr>
          <p:cNvPr id="6" name="Image 1" descr="/mnt/user-data/uploads/10_Calculator_b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9288" y="1463040"/>
            <a:ext cx="3605479" cy="1012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019288" y="2749880"/>
            <a:ext cx="360547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300" b="1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capture it
</a:t>
            </a: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Direct the designated home for budget fares: member-only and app-exclusive pricing funded by the avoided fee, and retargeting of metasearch visitors. </a:t>
            </a: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 shifted saves at least $10.50 before any margin.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2881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  ·   budgetair-fee-analysis.streamlit.app</a:t>
            </a:r>
            <a:r>
              <a:rPr lang="en-US" sz="900" b="1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actions — each with a number attached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34604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blurRad="88900" dist="12700" dir="5400000" algn="bl" rotWithShape="0">
              <a:srgbClr val="8FA3B5">
                <a:alpha val="2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795528" y="160020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795528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35608" y="1572768"/>
            <a:ext cx="424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competing on sub-$262 fares inside Aeroprice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35608" y="2331720"/>
            <a:ext cx="424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lose money there by construction: +$6.41 average extra fee on a segment averaging −$0.67 margin per order.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78728" y="1371600"/>
            <a:ext cx="534604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blurRad="88900" dist="12700" dir="5400000" algn="bl" rotWithShape="0">
              <a:srgbClr val="8FA3B5">
                <a:alpha val="2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0" name="Shape 8"/>
          <p:cNvSpPr/>
          <p:nvPr/>
        </p:nvSpPr>
        <p:spPr>
          <a:xfrm>
            <a:off x="6507328" y="1600200"/>
            <a:ext cx="457200" cy="457200"/>
          </a:xfrm>
          <a:prstGeom prst="ellipse">
            <a:avLst/>
          </a:prstGeom>
          <a:solidFill>
            <a:srgbClr val="1B6CB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6507328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47408" y="1572768"/>
            <a:ext cx="424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Reinvest the cap saving into long-haul prices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147408" y="2331720"/>
            <a:ext cx="424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~$4.79 saved per expensive order funds sharper prices exactly where margin is healthy (+$23.18/order) and ranking is won.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749040"/>
            <a:ext cx="534604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blurRad="88900" dist="12700" dir="5400000" algn="bl" rotWithShape="0">
              <a:srgbClr val="8FA3B5">
                <a:alpha val="2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5" name="Shape 13"/>
          <p:cNvSpPr/>
          <p:nvPr/>
        </p:nvSpPr>
        <p:spPr>
          <a:xfrm>
            <a:off x="795528" y="397764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795528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35608" y="3950208"/>
            <a:ext cx="424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Direct the home for budget fares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435608" y="4709160"/>
            <a:ext cx="424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order won back avoids ≥ $10.50 in fees — 500 orders/month is worth $63,000 a year before any margin.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78728" y="3749040"/>
            <a:ext cx="534604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blurRad="88900" dist="12700" dir="5400000" algn="bl" rotWithShape="0">
              <a:srgbClr val="8FA3B5">
                <a:alpha val="2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0" name="Shape 18"/>
          <p:cNvSpPr/>
          <p:nvPr/>
        </p:nvSpPr>
        <p:spPr>
          <a:xfrm>
            <a:off x="6507328" y="3977640"/>
            <a:ext cx="457200" cy="457200"/>
          </a:xfrm>
          <a:prstGeom prst="ellipse">
            <a:avLst/>
          </a:prstGeom>
          <a:solidFill>
            <a:srgbClr val="12293F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1" name="Text 19"/>
          <p:cNvSpPr/>
          <p:nvPr/>
        </p:nvSpPr>
        <p:spPr>
          <a:xfrm>
            <a:off x="6507328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47408" y="3950208"/>
            <a:ext cx="424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Renegotiate a fare-tiered fee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147408" y="4709160"/>
            <a:ext cx="424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Armed with the counterfactual: on 2022's real orders, the new terms cost +$131,696 — 59% of what the channel earned before the change.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2881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deliverables   ·   budgetair-fee-analysis.streamlit.app</a:t>
            </a:r>
            <a:r>
              <a:rPr lang="en-US" sz="900" b="1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ships as a product: a dashboard, an AI interface, and a QA'd pipeline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3472586" cy="4846320"/>
          </a:xfrm>
          <a:prstGeom prst="roundRect">
            <a:avLst>
              <a:gd name="adj" fmla="val 1580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749808" y="1508760"/>
            <a:ext cx="310682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400" dirty="0"/>
          </a:p>
        </p:txBody>
      </p:sp>
      <p:pic>
        <p:nvPicPr>
          <p:cNvPr id="6" name="Image 0" descr="/mnt/user-data/uploads/0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266" y="1920240"/>
            <a:ext cx="2241911" cy="2651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4709160"/>
            <a:ext cx="310682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pages mirroring this deck; every number recomputed from the data on load.
</a:t>
            </a: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· automated browser QA 47/47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59554" y="1371600"/>
            <a:ext cx="3472586" cy="4846320"/>
          </a:xfrm>
          <a:prstGeom prst="roundRect">
            <a:avLst>
              <a:gd name="adj" fmla="val 1580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6"/>
          <p:cNvSpPr/>
          <p:nvPr/>
        </p:nvSpPr>
        <p:spPr>
          <a:xfrm>
            <a:off x="4542434" y="1508760"/>
            <a:ext cx="310682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data in plain English (MCP)</a:t>
            </a:r>
            <a:endParaRPr lang="en-US" sz="1400" dirty="0"/>
          </a:p>
        </p:txBody>
      </p:sp>
      <p:pic>
        <p:nvPicPr>
          <p:cNvPr id="10" name="Image 1" descr="/mnt/user-data/uploads/1784030132730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8154" y="1920240"/>
            <a:ext cx="3015386" cy="180343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42434" y="3815113"/>
            <a:ext cx="310682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curated tools answer stakeholder questions with charts — the AI narrates, our code computes, so numbers can't be invented.
</a:t>
            </a: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Cloud Run · eval 11/12, 0 fabrications · 12/12 manual sign-off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152181" y="1371600"/>
            <a:ext cx="3472586" cy="4846320"/>
          </a:xfrm>
          <a:prstGeom prst="roundRect">
            <a:avLst>
              <a:gd name="adj" fmla="val 1580"/>
            </a:avLst>
          </a:prstGeom>
          <a:solidFill>
            <a:srgbClr val="EFF5FA"/>
          </a:solidFill>
          <a:ln w="12700">
            <a:solidFill>
              <a:srgbClr val="1B6CB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9"/>
          <p:cNvSpPr/>
          <p:nvPr/>
        </p:nvSpPr>
        <p:spPr>
          <a:xfrm>
            <a:off x="8335061" y="1508760"/>
            <a:ext cx="310682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Productionising it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335061" y="1965960"/>
            <a:ext cx="310682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Today.  </a:t>
            </a:r>
            <a:r>
              <a:rPr lang="en-US" sz="11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 feeds slides, dashboard and AI — a single source of truth with a startup consistency gate.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8335061" y="3264408"/>
            <a:ext cx="310682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  </a:t>
            </a:r>
            <a:r>
              <a:rPr lang="en-US" sz="11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in-chat views (MCP Apps): our charts, click-to-drill into any segment.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8335061" y="4562856"/>
            <a:ext cx="310682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scale.  </a:t>
            </a:r>
            <a:r>
              <a:rPr lang="en-US" sz="11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 on the live warehouse: curated, governed tools for self-serve pricing analytics.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566928" y="640080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links on the title slide — dashboard, MCP endpoint, GitHub.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2881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 ·   budgetair-fee-analysis.streamlit.app</a:t>
            </a:r>
            <a:r>
              <a:rPr lang="en-US" sz="900" b="1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Fee applied per passenger instead of per order: the impact would be larger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5300320" cy="1371600"/>
          </a:xfrm>
          <a:prstGeom prst="roundRect">
            <a:avLst>
              <a:gd name="adj" fmla="val 366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blurRad="76200" dist="12700" dir="5400000" algn="bl" rotWithShape="0">
              <a:srgbClr val="8FA3B5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713232" y="1554480"/>
            <a:ext cx="5007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+$131,696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13232" y="2217420"/>
            <a:ext cx="50077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— percentage, minimum and maximum applied per ORDER (matches the contract wording)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24448" y="1463040"/>
            <a:ext cx="5300320" cy="1371600"/>
          </a:xfrm>
          <a:prstGeom prst="roundRect">
            <a:avLst>
              <a:gd name="adj" fmla="val 366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blurRad="76200" dist="12700" dir="5400000" algn="bl" rotWithShape="0">
              <a:srgbClr val="8FA3B5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6470752" y="1554480"/>
            <a:ext cx="5007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+$231,170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70752" y="2217420"/>
            <a:ext cx="50077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— the same rules applied per PASSENGER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3200400"/>
            <a:ext cx="1105783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grows:  </a:t>
            </a:r>
            <a:r>
              <a:rPr lang="en-US" sz="12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an order across passengers lowers each ticket's value, pushing more of them under the $10.50 minimum — the floor then binds several times per order instead of once.
</a:t>
            </a:r>
            <a:r>
              <a:rPr lang="en-US" sz="1250" b="1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 </a:t>
            </a:r>
            <a:r>
              <a:rPr lang="en-US" sz="12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per-order base case is the conservative reading of the contract. If the fee is in fact charged per passenger, every headline in this deck understates the damage.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2881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 ·   budgetair-fee-analysis.streamlit.app</a:t>
            </a:r>
            <a:r>
              <a:rPr lang="en-US" sz="900" b="1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15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Supporting views</a:t>
            </a:r>
            <a:endParaRPr lang="en-US" sz="2400" dirty="0"/>
          </a:p>
        </p:txBody>
      </p:sp>
      <p:pic>
        <p:nvPicPr>
          <p:cNvPr id="4" name="Image 0" descr="/mnt/user-data/uploads/3_Waterfall_ag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25880"/>
            <a:ext cx="5440680" cy="22477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3628537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Oct–Dec only: the same waterfall is roughly flat once the cheap fares have gone.</a:t>
            </a:r>
            <a:endParaRPr lang="en-US" sz="1050" dirty="0"/>
          </a:p>
        </p:txBody>
      </p:sp>
      <p:pic>
        <p:nvPicPr>
          <p:cNvPr id="6" name="Image 1" descr="/mnt/user-data/uploads/6_Horizontal_ba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1325880"/>
            <a:ext cx="5440680" cy="219670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19088" y="357745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price bands: +$6.41 / −$0.72 / −$4.79 average fee change per order.</a:t>
            </a:r>
            <a:endParaRPr lang="en-US" sz="1050" dirty="0"/>
          </a:p>
        </p:txBody>
      </p:sp>
      <p:pic>
        <p:nvPicPr>
          <p:cNvPr id="8" name="Image 2" descr="/mnt/user-data/uploads/8_Median_ticket_by_mont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160520"/>
            <a:ext cx="5440680" cy="204344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66928" y="6258832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typical (median) Aeroprice ticket jumped from ~$130 to $400+ after 1 Oct — cheap tickets left the channel.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6419088" y="4297680"/>
            <a:ext cx="5440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these together:  </a:t>
            </a: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after-change waterfall (top left) is what the contract looks like if you only inspect Q4 — the zone view (top right) and the median-ticket jump (bottom left) show why: the paying segment exited, flattering the average.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2881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 ·   budgetair-fee-analysis.streamlit.app</a:t>
            </a:r>
            <a:r>
              <a:rPr lang="en-US" sz="900" b="1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310896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Reproducibility &amp; quality controls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17320"/>
          <a:ext cx="11064240" cy="3319272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orders_compiled_enriched.csv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order-level fact table: all 120,396 orders with cleaning flags, both fee schemes, zones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fee verifiable per order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impact_summary.csv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× channel × price-zone rollup behind every chart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reconciles to the fact 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script rebuilds both CSVs from the 12 raw files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prints a validation block of headline numbers on every 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dashboard (live)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six pages, every number recomputed from the CSVs on 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browser QA: 47/47 checks against the deployed 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server (live, Cloud Run)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nine curated tools; AI narrates, code computes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3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refuses to start on data drift · golden eval 11/12, 0 fabricated numbers · 12/12 manual sign-off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76072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3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truth:  </a:t>
            </a:r>
            <a:r>
              <a:rPr lang="en-US" sz="12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slides, dashboard and AI interface all read the same two CSVs produced by the same script — every number in this deck exists identically in all three.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2395</Words>
  <Application>Microsoft Office PowerPoint</Application>
  <PresentationFormat>Widescreen</PresentationFormat>
  <Paragraphs>192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Fan, Felicity</cp:lastModifiedBy>
  <cp:revision>2</cp:revision>
  <dcterms:created xsi:type="dcterms:W3CDTF">2026-07-14T12:53:55Z</dcterms:created>
  <dcterms:modified xsi:type="dcterms:W3CDTF">2026-07-14T13:01:18Z</dcterms:modified>
</cp:coreProperties>
</file>